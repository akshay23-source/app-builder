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Arial Bold" charset="1" panose="020B0704020202020204"/>
      <p:regular r:id="rId18"/>
    </p:embeddedFont>
    <p:embeddedFont>
      <p:font typeface="Arial" charset="1" panose="020B0604020202020204"/>
      <p:regular r:id="rId19"/>
    </p:embeddedFont>
    <p:embeddedFont>
      <p:font typeface="Calibri (MS) Bold" charset="1" panose="020F0702030404030204"/>
      <p:regular r:id="rId20"/>
    </p:embeddedFont>
    <p:embeddedFont>
      <p:font typeface="Calibri (MS)" charset="1" panose="020F0502020204030204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5048" y="644376"/>
            <a:ext cx="16426453" cy="10257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63"/>
              </a:lnSpc>
            </a:pPr>
            <a:r>
              <a:rPr lang="en-US" sz="4053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FORGEAI – SINGLE PROMPT TO WEBSITE BUILDER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83675" y="2163842"/>
            <a:ext cx="3042904" cy="6730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2401">
                <a:solidFill>
                  <a:srgbClr val="5A5A5A"/>
                </a:solidFill>
                <a:latin typeface="Arial"/>
                <a:ea typeface="Arial"/>
                <a:cs typeface="Arial"/>
                <a:sym typeface="Arial"/>
              </a:rPr>
              <a:t>Full Name :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4003558" y="2154317"/>
            <a:ext cx="4278306" cy="8884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Akshay Gabrieal R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945175" y="2163842"/>
            <a:ext cx="3042904" cy="6730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2401">
                <a:solidFill>
                  <a:srgbClr val="5A5A5A"/>
                </a:solidFill>
                <a:latin typeface="Arial"/>
                <a:ea typeface="Arial"/>
                <a:cs typeface="Arial"/>
                <a:sym typeface="Arial"/>
              </a:rPr>
              <a:t>Full Name :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1965057" y="2154317"/>
            <a:ext cx="5170541" cy="8884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Prajwal Noel Pais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83675" y="3399244"/>
            <a:ext cx="3042904" cy="6730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2401">
                <a:solidFill>
                  <a:srgbClr val="5A5A5A"/>
                </a:solidFill>
                <a:latin typeface="Arial"/>
                <a:ea typeface="Arial"/>
                <a:cs typeface="Arial"/>
                <a:sym typeface="Arial"/>
              </a:rPr>
              <a:t>Registered Mail ID :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003558" y="3389719"/>
            <a:ext cx="4278306" cy="8884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akshaygabriealr@gmail.com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945175" y="3399244"/>
            <a:ext cx="3042904" cy="6730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2401">
                <a:solidFill>
                  <a:srgbClr val="5A5A5A"/>
                </a:solidFill>
                <a:latin typeface="Arial"/>
                <a:ea typeface="Arial"/>
                <a:cs typeface="Arial"/>
                <a:sym typeface="Arial"/>
              </a:rPr>
              <a:t>Registered Mail ID :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1965057" y="3389719"/>
            <a:ext cx="5170541" cy="8884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prajwalnoel2005@gmail.com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83675" y="4634646"/>
            <a:ext cx="3042904" cy="6730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2401">
                <a:solidFill>
                  <a:srgbClr val="5A5A5A"/>
                </a:solidFill>
                <a:latin typeface="Arial"/>
                <a:ea typeface="Arial"/>
                <a:cs typeface="Arial"/>
                <a:sym typeface="Arial"/>
              </a:rPr>
              <a:t>College Name :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4003558" y="4625121"/>
            <a:ext cx="4278306" cy="8884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ST Joseph Engineering College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945175" y="4634646"/>
            <a:ext cx="3042904" cy="6730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2401">
                <a:solidFill>
                  <a:srgbClr val="5A5A5A"/>
                </a:solidFill>
                <a:latin typeface="Arial"/>
                <a:ea typeface="Arial"/>
                <a:cs typeface="Arial"/>
                <a:sym typeface="Arial"/>
              </a:rPr>
              <a:t>College Name :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1965057" y="4625121"/>
            <a:ext cx="5170541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 u="sng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ST Joseph Engineering College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83675" y="5870048"/>
            <a:ext cx="3042904" cy="6730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2401">
                <a:solidFill>
                  <a:srgbClr val="5A5A5A"/>
                </a:solidFill>
                <a:latin typeface="Arial"/>
                <a:ea typeface="Arial"/>
                <a:cs typeface="Arial"/>
                <a:sym typeface="Arial"/>
              </a:rPr>
              <a:t>Mob No. :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4003558" y="5860523"/>
            <a:ext cx="4278306" cy="8884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8123053082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8945175" y="5870048"/>
            <a:ext cx="3042904" cy="6730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2401">
                <a:solidFill>
                  <a:srgbClr val="5A5A5A"/>
                </a:solidFill>
                <a:latin typeface="Arial"/>
                <a:ea typeface="Arial"/>
                <a:cs typeface="Arial"/>
                <a:sym typeface="Arial"/>
              </a:rPr>
              <a:t>Mob No. :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1965057" y="5860523"/>
            <a:ext cx="5170541" cy="8884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9482251882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83675" y="7105459"/>
            <a:ext cx="3042904" cy="6730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2401">
                <a:solidFill>
                  <a:srgbClr val="5A5A5A"/>
                </a:solidFill>
                <a:latin typeface="Arial"/>
                <a:ea typeface="Arial"/>
                <a:cs typeface="Arial"/>
                <a:sym typeface="Arial"/>
              </a:rPr>
              <a:t>IBM SkillsBuild platform mail ID :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4003558" y="7095934"/>
            <a:ext cx="4278306" cy="8884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akshaygabriealr@gmail.com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8945175" y="7105459"/>
            <a:ext cx="3042904" cy="6730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2401">
                <a:solidFill>
                  <a:srgbClr val="5A5A5A"/>
                </a:solidFill>
                <a:latin typeface="Arial"/>
                <a:ea typeface="Arial"/>
                <a:cs typeface="Arial"/>
                <a:sym typeface="Arial"/>
              </a:rPr>
              <a:t>IBM SkillsBuild platform mail ID :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1965057" y="7095934"/>
            <a:ext cx="5170541" cy="8884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prajwalnoel2005@gmail.com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83675" y="9154944"/>
            <a:ext cx="16289188" cy="3394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81"/>
              </a:lnSpc>
            </a:pPr>
            <a:r>
              <a:rPr lang="en-US" sz="1651">
                <a:solidFill>
                  <a:srgbClr val="828282"/>
                </a:solidFill>
                <a:latin typeface="Arial"/>
                <a:ea typeface="Arial"/>
                <a:cs typeface="Arial"/>
                <a:sym typeface="Arial"/>
              </a:rPr>
              <a:t>ForgeAI Engine &amp; Frontend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070B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9814"/>
            <a:chOff x="0" y="0"/>
            <a:chExt cx="24402453" cy="14641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46431"/>
            </a:xfrm>
            <a:custGeom>
              <a:avLst/>
              <a:gdLst/>
              <a:ahLst/>
              <a:cxnLst/>
              <a:rect r="r" b="b" t="t" l="l"/>
              <a:pathLst>
                <a:path h="146431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46431"/>
                  </a:lnTo>
                  <a:lnTo>
                    <a:pt x="0" y="146431"/>
                  </a:lnTo>
                  <a:close/>
                </a:path>
              </a:pathLst>
            </a:custGeom>
            <a:solidFill>
              <a:srgbClr val="7E57FF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983675" y="449951"/>
            <a:ext cx="16289188" cy="876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63"/>
              </a:lnSpc>
            </a:pPr>
            <a:r>
              <a:rPr lang="en-US" sz="4053" b="true">
                <a:solidFill>
                  <a:srgbClr val="F4F6F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Introduction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4861" y="1351721"/>
            <a:ext cx="16014659" cy="609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>
                <a:solidFill>
                  <a:srgbClr val="A5B0C6"/>
                </a:solidFill>
                <a:latin typeface="Calibri (MS)"/>
                <a:ea typeface="Calibri (MS)"/>
                <a:cs typeface="Calibri (MS)"/>
                <a:sym typeface="Calibri (MS)"/>
              </a:rPr>
              <a:t>ForgeAI converts a one-line application idea into a runnable web project.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189577" y="2175319"/>
            <a:ext cx="16014659" cy="3324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>
                <a:solidFill>
                  <a:srgbClr val="F4F6FC"/>
                </a:solidFill>
                <a:latin typeface="Calibri (MS)"/>
                <a:ea typeface="Calibri (MS)"/>
                <a:cs typeface="Calibri (MS)"/>
                <a:sym typeface="Calibri (MS)"/>
              </a:rPr>
              <a:t>Locally-run application builder with a Next.js user interface and FastAPI gateway.</a:t>
            </a:r>
          </a:p>
          <a:p>
            <a:pPr algn="l">
              <a:lnSpc>
                <a:spcPts val="4320"/>
              </a:lnSpc>
            </a:pPr>
            <a:r>
              <a:rPr lang="en-US" sz="3600">
                <a:solidFill>
                  <a:srgbClr val="F4F6FC"/>
                </a:solidFill>
                <a:latin typeface="Calibri (MS)"/>
                <a:ea typeface="Calibri (MS)"/>
                <a:cs typeface="Calibri (MS)"/>
                <a:sym typeface="Calibri (MS)"/>
              </a:rPr>
              <a:t>Uses specialized AI workers for planning, research, code generation, debugging and documentation.</a:t>
            </a:r>
          </a:p>
          <a:p>
            <a:pPr algn="l">
              <a:lnSpc>
                <a:spcPts val="4320"/>
              </a:lnSpc>
            </a:pPr>
            <a:r>
              <a:rPr lang="en-US" sz="3600">
                <a:solidFill>
                  <a:srgbClr val="F4F6FC"/>
                </a:solidFill>
                <a:latin typeface="Calibri (MS)"/>
                <a:ea typeface="Calibri (MS)"/>
                <a:cs typeface="Calibri (MS)"/>
                <a:sym typeface="Calibri (MS)"/>
              </a:rPr>
              <a:t>Coordinates work through an in-process asynchronous DAG rather than a single linear generation step.</a:t>
            </a:r>
          </a:p>
          <a:p>
            <a:pPr algn="l">
              <a:lnSpc>
                <a:spcPts val="4320"/>
              </a:lnSpc>
            </a:pPr>
            <a:r>
              <a:rPr lang="en-US" sz="3600">
                <a:solidFill>
                  <a:srgbClr val="F4F6FC"/>
                </a:solidFill>
                <a:latin typeface="Calibri (MS)"/>
                <a:ea typeface="Calibri (MS)"/>
                <a:cs typeface="Calibri (MS)"/>
                <a:sym typeface="Calibri (MS)"/>
              </a:rPr>
              <a:t>Stores local application data in SQLite (forgeai.db).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070B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9814"/>
            <a:chOff x="0" y="0"/>
            <a:chExt cx="24402453" cy="14641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46431"/>
            </a:xfrm>
            <a:custGeom>
              <a:avLst/>
              <a:gdLst/>
              <a:ahLst/>
              <a:cxnLst/>
              <a:rect r="r" b="b" t="t" l="l"/>
              <a:pathLst>
                <a:path h="146431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46431"/>
                  </a:lnTo>
                  <a:lnTo>
                    <a:pt x="0" y="146431"/>
                  </a:lnTo>
                  <a:close/>
                </a:path>
              </a:pathLst>
            </a:custGeom>
            <a:solidFill>
              <a:srgbClr val="7E57FF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983675" y="430901"/>
            <a:ext cx="16289188" cy="790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19"/>
              </a:lnSpc>
            </a:pPr>
            <a:r>
              <a:rPr lang="en-US" sz="4599" b="true">
                <a:solidFill>
                  <a:srgbClr val="F4F6F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Problem Statement &amp; Objective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953719" y="2120494"/>
            <a:ext cx="8113062" cy="6603130"/>
            <a:chOff x="0" y="0"/>
            <a:chExt cx="10817416" cy="880417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817351" cy="8804148"/>
            </a:xfrm>
            <a:custGeom>
              <a:avLst/>
              <a:gdLst/>
              <a:ahLst/>
              <a:cxnLst/>
              <a:rect r="r" b="b" t="t" l="l"/>
              <a:pathLst>
                <a:path h="8804148" w="10817351">
                  <a:moveTo>
                    <a:pt x="0" y="1467358"/>
                  </a:moveTo>
                  <a:cubicBezTo>
                    <a:pt x="0" y="656971"/>
                    <a:pt x="656971" y="0"/>
                    <a:pt x="1467358" y="0"/>
                  </a:cubicBezTo>
                  <a:lnTo>
                    <a:pt x="9349994" y="0"/>
                  </a:lnTo>
                  <a:cubicBezTo>
                    <a:pt x="10160381" y="0"/>
                    <a:pt x="10817351" y="656971"/>
                    <a:pt x="10817351" y="1467358"/>
                  </a:cubicBezTo>
                  <a:lnTo>
                    <a:pt x="10817351" y="7336790"/>
                  </a:lnTo>
                  <a:cubicBezTo>
                    <a:pt x="10817351" y="8147177"/>
                    <a:pt x="10160381" y="8804148"/>
                    <a:pt x="9349994" y="8804148"/>
                  </a:cubicBezTo>
                  <a:lnTo>
                    <a:pt x="1467358" y="8804148"/>
                  </a:lnTo>
                  <a:cubicBezTo>
                    <a:pt x="656971" y="8804148"/>
                    <a:pt x="0" y="8147177"/>
                    <a:pt x="0" y="7336790"/>
                  </a:cubicBezTo>
                  <a:close/>
                </a:path>
              </a:pathLst>
            </a:custGeom>
            <a:solidFill>
              <a:srgbClr val="0E1627"/>
            </a:solidFill>
            <a:ln w="14299" cap="sq">
              <a:solidFill>
                <a:srgbClr val="23314C"/>
              </a:solidFill>
              <a:prstDash val="solid"/>
              <a:miter/>
            </a:ln>
          </p:spPr>
        </p:sp>
      </p:grpSp>
      <p:sp>
        <p:nvSpPr>
          <p:cNvPr name="TextBox 7" id="7"/>
          <p:cNvSpPr txBox="true"/>
          <p:nvPr/>
        </p:nvSpPr>
        <p:spPr>
          <a:xfrm rot="0">
            <a:off x="1326842" y="2344245"/>
            <a:ext cx="7366816" cy="2876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80"/>
              </a:lnSpc>
            </a:pPr>
            <a:r>
              <a:rPr lang="en-US" sz="4400" b="true">
                <a:solidFill>
                  <a:srgbClr val="F4F6F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Problem</a:t>
            </a:r>
          </a:p>
          <a:p>
            <a:pPr algn="l">
              <a:lnSpc>
                <a:spcPts val="4200"/>
              </a:lnSpc>
            </a:pPr>
            <a:r>
              <a:rPr lang="en-US" sz="3500">
                <a:solidFill>
                  <a:srgbClr val="A5B0C6"/>
                </a:solidFill>
                <a:latin typeface="Calibri (MS)"/>
                <a:ea typeface="Calibri (MS)"/>
                <a:cs typeface="Calibri (MS)"/>
                <a:sym typeface="Calibri (MS)"/>
              </a:rPr>
              <a:t>Building production-style web applications manually requires repeated planning, coding, debugging, documentation and integration work.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9258386" y="2120494"/>
            <a:ext cx="8113062" cy="6603130"/>
            <a:chOff x="0" y="0"/>
            <a:chExt cx="10817416" cy="880417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817351" cy="8804148"/>
            </a:xfrm>
            <a:custGeom>
              <a:avLst/>
              <a:gdLst/>
              <a:ahLst/>
              <a:cxnLst/>
              <a:rect r="r" b="b" t="t" l="l"/>
              <a:pathLst>
                <a:path h="8804148" w="10817351">
                  <a:moveTo>
                    <a:pt x="0" y="1467358"/>
                  </a:moveTo>
                  <a:cubicBezTo>
                    <a:pt x="0" y="656971"/>
                    <a:pt x="656971" y="0"/>
                    <a:pt x="1467358" y="0"/>
                  </a:cubicBezTo>
                  <a:lnTo>
                    <a:pt x="9349994" y="0"/>
                  </a:lnTo>
                  <a:cubicBezTo>
                    <a:pt x="10160381" y="0"/>
                    <a:pt x="10817351" y="656971"/>
                    <a:pt x="10817351" y="1467358"/>
                  </a:cubicBezTo>
                  <a:lnTo>
                    <a:pt x="10817351" y="7336790"/>
                  </a:lnTo>
                  <a:cubicBezTo>
                    <a:pt x="10817351" y="8147177"/>
                    <a:pt x="10160381" y="8804148"/>
                    <a:pt x="9349994" y="8804148"/>
                  </a:cubicBezTo>
                  <a:lnTo>
                    <a:pt x="1467358" y="8804148"/>
                  </a:lnTo>
                  <a:cubicBezTo>
                    <a:pt x="656971" y="8804148"/>
                    <a:pt x="0" y="8147177"/>
                    <a:pt x="0" y="7336790"/>
                  </a:cubicBezTo>
                  <a:close/>
                </a:path>
              </a:pathLst>
            </a:custGeom>
            <a:solidFill>
              <a:srgbClr val="0E1627"/>
            </a:solidFill>
            <a:ln w="14299" cap="sq">
              <a:solidFill>
                <a:srgbClr val="23314C"/>
              </a:solidFill>
              <a:prstDash val="solid"/>
              <a:miter/>
            </a:ln>
          </p:spPr>
        </p:sp>
      </p:grpSp>
      <p:sp>
        <p:nvSpPr>
          <p:cNvPr name="TextBox 10" id="10"/>
          <p:cNvSpPr txBox="true"/>
          <p:nvPr/>
        </p:nvSpPr>
        <p:spPr>
          <a:xfrm rot="0">
            <a:off x="9631509" y="2344245"/>
            <a:ext cx="7366816" cy="3943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80"/>
              </a:lnSpc>
            </a:pPr>
            <a:r>
              <a:rPr lang="en-US" sz="4400" b="true">
                <a:solidFill>
                  <a:srgbClr val="F4F6F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Objective</a:t>
            </a:r>
          </a:p>
          <a:p>
            <a:pPr algn="l">
              <a:lnSpc>
                <a:spcPts val="4200"/>
              </a:lnSpc>
            </a:pPr>
            <a:r>
              <a:rPr lang="en-US" sz="3500">
                <a:solidFill>
                  <a:srgbClr val="A5B0C6"/>
                </a:solidFill>
                <a:latin typeface="Calibri (MS)"/>
                <a:ea typeface="Calibri (MS)"/>
                <a:cs typeface="Calibri (MS)"/>
                <a:sym typeface="Calibri (MS)"/>
              </a:rPr>
              <a:t>Create a local AI application builder that decomposes an idea into tasks, generates a Next.js project, validates/repairs the build and produces documentation through coordinated workers.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070B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9814"/>
            <a:chOff x="0" y="0"/>
            <a:chExt cx="24402453" cy="14641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46431"/>
            </a:xfrm>
            <a:custGeom>
              <a:avLst/>
              <a:gdLst/>
              <a:ahLst/>
              <a:cxnLst/>
              <a:rect r="r" b="b" t="t" l="l"/>
              <a:pathLst>
                <a:path h="146431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46431"/>
                  </a:lnTo>
                  <a:lnTo>
                    <a:pt x="0" y="146431"/>
                  </a:lnTo>
                  <a:close/>
                </a:path>
              </a:pathLst>
            </a:custGeom>
            <a:solidFill>
              <a:srgbClr val="7E57FF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983675" y="440426"/>
            <a:ext cx="16289188" cy="809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59"/>
              </a:lnSpc>
            </a:pPr>
            <a:r>
              <a:rPr lang="en-US" sz="4800" b="true">
                <a:solidFill>
                  <a:srgbClr val="F4F6F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System Architecture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4861" y="1380296"/>
            <a:ext cx="16014659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A5B0C6"/>
                </a:solidFill>
                <a:latin typeface="Calibri (MS)"/>
                <a:ea typeface="Calibri (MS)"/>
                <a:cs typeface="Calibri (MS)"/>
                <a:sym typeface="Calibri (MS)"/>
              </a:rPr>
              <a:t>Core components and local communication flow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4110866" y="1983229"/>
            <a:ext cx="10034807" cy="1249709"/>
            <a:chOff x="0" y="0"/>
            <a:chExt cx="13379742" cy="166627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3379831" cy="1666367"/>
            </a:xfrm>
            <a:custGeom>
              <a:avLst/>
              <a:gdLst/>
              <a:ahLst/>
              <a:cxnLst/>
              <a:rect r="r" b="b" t="t" l="l"/>
              <a:pathLst>
                <a:path h="1666367" w="13379831">
                  <a:moveTo>
                    <a:pt x="0" y="277749"/>
                  </a:moveTo>
                  <a:cubicBezTo>
                    <a:pt x="0" y="124333"/>
                    <a:pt x="124333" y="0"/>
                    <a:pt x="277749" y="0"/>
                  </a:cubicBezTo>
                  <a:lnTo>
                    <a:pt x="13102082" y="0"/>
                  </a:lnTo>
                  <a:cubicBezTo>
                    <a:pt x="13255498" y="0"/>
                    <a:pt x="13379831" y="124333"/>
                    <a:pt x="13379831" y="277749"/>
                  </a:cubicBezTo>
                  <a:lnTo>
                    <a:pt x="13379831" y="1388618"/>
                  </a:lnTo>
                  <a:cubicBezTo>
                    <a:pt x="13379831" y="1542034"/>
                    <a:pt x="13255498" y="1666367"/>
                    <a:pt x="13102082" y="1666367"/>
                  </a:cubicBezTo>
                  <a:lnTo>
                    <a:pt x="277749" y="1666367"/>
                  </a:lnTo>
                  <a:cubicBezTo>
                    <a:pt x="124333" y="1666240"/>
                    <a:pt x="0" y="1541907"/>
                    <a:pt x="0" y="1388491"/>
                  </a:cubicBezTo>
                  <a:close/>
                </a:path>
              </a:pathLst>
            </a:custGeom>
            <a:solidFill>
              <a:srgbClr val="0E1627"/>
            </a:solidFill>
            <a:ln w="14299" cap="sq">
              <a:solidFill>
                <a:srgbClr val="23314C"/>
              </a:solidFill>
              <a:prstDash val="solid"/>
              <a:miter/>
            </a:ln>
          </p:spPr>
        </p:sp>
      </p:grpSp>
      <p:sp>
        <p:nvSpPr>
          <p:cNvPr name="TextBox 8" id="8"/>
          <p:cNvSpPr txBox="true"/>
          <p:nvPr/>
        </p:nvSpPr>
        <p:spPr>
          <a:xfrm rot="0">
            <a:off x="4483989" y="2245081"/>
            <a:ext cx="9288561" cy="647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 b="true">
                <a:solidFill>
                  <a:srgbClr val="F4F6F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Next.js Frontend</a:t>
            </a:r>
          </a:p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A5B0C6"/>
                </a:solidFill>
                <a:latin typeface="Calibri (MS)"/>
                <a:ea typeface="Calibri (MS)"/>
                <a:cs typeface="Calibri (MS)"/>
                <a:sym typeface="Calibri (MS)"/>
              </a:rPr>
              <a:t>Port 3000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807910" y="3149917"/>
            <a:ext cx="503453" cy="4556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2"/>
              </a:lnSpc>
            </a:pPr>
            <a:r>
              <a:rPr lang="en-US" sz="3002">
                <a:solidFill>
                  <a:srgbClr val="7E57FF"/>
                </a:solidFill>
                <a:latin typeface="Calibri (MS)"/>
                <a:ea typeface="Calibri (MS)"/>
                <a:cs typeface="Calibri (MS)"/>
                <a:sym typeface="Calibri (MS)"/>
              </a:rPr>
              <a:t>↓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4110866" y="3699062"/>
            <a:ext cx="10034807" cy="1249709"/>
            <a:chOff x="0" y="0"/>
            <a:chExt cx="13379742" cy="166627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3379831" cy="1666367"/>
            </a:xfrm>
            <a:custGeom>
              <a:avLst/>
              <a:gdLst/>
              <a:ahLst/>
              <a:cxnLst/>
              <a:rect r="r" b="b" t="t" l="l"/>
              <a:pathLst>
                <a:path h="1666367" w="13379831">
                  <a:moveTo>
                    <a:pt x="0" y="277749"/>
                  </a:moveTo>
                  <a:cubicBezTo>
                    <a:pt x="0" y="124333"/>
                    <a:pt x="124333" y="0"/>
                    <a:pt x="277749" y="0"/>
                  </a:cubicBezTo>
                  <a:lnTo>
                    <a:pt x="13102082" y="0"/>
                  </a:lnTo>
                  <a:cubicBezTo>
                    <a:pt x="13255498" y="0"/>
                    <a:pt x="13379831" y="124333"/>
                    <a:pt x="13379831" y="277749"/>
                  </a:cubicBezTo>
                  <a:lnTo>
                    <a:pt x="13379831" y="1388618"/>
                  </a:lnTo>
                  <a:cubicBezTo>
                    <a:pt x="13379831" y="1542034"/>
                    <a:pt x="13255498" y="1666367"/>
                    <a:pt x="13102082" y="1666367"/>
                  </a:cubicBezTo>
                  <a:lnTo>
                    <a:pt x="277749" y="1666367"/>
                  </a:lnTo>
                  <a:cubicBezTo>
                    <a:pt x="124333" y="1666240"/>
                    <a:pt x="0" y="1541907"/>
                    <a:pt x="0" y="1388491"/>
                  </a:cubicBezTo>
                  <a:close/>
                </a:path>
              </a:pathLst>
            </a:custGeom>
            <a:solidFill>
              <a:srgbClr val="0E1627"/>
            </a:solidFill>
            <a:ln w="14299" cap="sq">
              <a:solidFill>
                <a:srgbClr val="23314C"/>
              </a:solidFill>
              <a:prstDash val="solid"/>
              <a:miter/>
            </a:ln>
          </p:spPr>
        </p:sp>
      </p:grpSp>
      <p:sp>
        <p:nvSpPr>
          <p:cNvPr name="TextBox 12" id="12"/>
          <p:cNvSpPr txBox="true"/>
          <p:nvPr/>
        </p:nvSpPr>
        <p:spPr>
          <a:xfrm rot="0">
            <a:off x="4483989" y="3960914"/>
            <a:ext cx="9288561" cy="647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 b="true">
                <a:solidFill>
                  <a:srgbClr val="F4F6F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FastAPI Gateway</a:t>
            </a:r>
          </a:p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A5B0C6"/>
                </a:solidFill>
                <a:latin typeface="Calibri (MS)"/>
                <a:ea typeface="Calibri (MS)"/>
                <a:cs typeface="Calibri (MS)"/>
                <a:sym typeface="Calibri (MS)"/>
              </a:rPr>
              <a:t>Port 8000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807910" y="4865761"/>
            <a:ext cx="503453" cy="4556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2"/>
              </a:lnSpc>
            </a:pPr>
            <a:r>
              <a:rPr lang="en-US" sz="3002">
                <a:solidFill>
                  <a:srgbClr val="7E57FF"/>
                </a:solidFill>
                <a:latin typeface="Calibri (MS)"/>
                <a:ea typeface="Calibri (MS)"/>
                <a:cs typeface="Calibri (MS)"/>
                <a:sym typeface="Calibri (MS)"/>
              </a:rPr>
              <a:t>↓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4110866" y="5414905"/>
            <a:ext cx="10034807" cy="1249709"/>
            <a:chOff x="0" y="0"/>
            <a:chExt cx="13379742" cy="166627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3379831" cy="1666367"/>
            </a:xfrm>
            <a:custGeom>
              <a:avLst/>
              <a:gdLst/>
              <a:ahLst/>
              <a:cxnLst/>
              <a:rect r="r" b="b" t="t" l="l"/>
              <a:pathLst>
                <a:path h="1666367" w="13379831">
                  <a:moveTo>
                    <a:pt x="0" y="277749"/>
                  </a:moveTo>
                  <a:cubicBezTo>
                    <a:pt x="0" y="124333"/>
                    <a:pt x="124333" y="0"/>
                    <a:pt x="277749" y="0"/>
                  </a:cubicBezTo>
                  <a:lnTo>
                    <a:pt x="13102082" y="0"/>
                  </a:lnTo>
                  <a:cubicBezTo>
                    <a:pt x="13255498" y="0"/>
                    <a:pt x="13379831" y="124333"/>
                    <a:pt x="13379831" y="277749"/>
                  </a:cubicBezTo>
                  <a:lnTo>
                    <a:pt x="13379831" y="1388618"/>
                  </a:lnTo>
                  <a:cubicBezTo>
                    <a:pt x="13379831" y="1542034"/>
                    <a:pt x="13255498" y="1666367"/>
                    <a:pt x="13102082" y="1666367"/>
                  </a:cubicBezTo>
                  <a:lnTo>
                    <a:pt x="277749" y="1666367"/>
                  </a:lnTo>
                  <a:cubicBezTo>
                    <a:pt x="124333" y="1666240"/>
                    <a:pt x="0" y="1541907"/>
                    <a:pt x="0" y="1388491"/>
                  </a:cubicBezTo>
                  <a:close/>
                </a:path>
              </a:pathLst>
            </a:custGeom>
            <a:solidFill>
              <a:srgbClr val="0E1627"/>
            </a:solidFill>
            <a:ln w="14299" cap="sq">
              <a:solidFill>
                <a:srgbClr val="23314C"/>
              </a:solidFill>
              <a:prstDash val="solid"/>
              <a:miter/>
            </a:ln>
          </p:spPr>
        </p:sp>
      </p:grpSp>
      <p:sp>
        <p:nvSpPr>
          <p:cNvPr name="TextBox 16" id="16"/>
          <p:cNvSpPr txBox="true"/>
          <p:nvPr/>
        </p:nvSpPr>
        <p:spPr>
          <a:xfrm rot="0">
            <a:off x="4483989" y="5676757"/>
            <a:ext cx="9288561" cy="647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2401" b="true">
                <a:solidFill>
                  <a:srgbClr val="F4F6F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Async Worker DAG</a:t>
            </a:r>
          </a:p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A5B0C6"/>
                </a:solidFill>
                <a:latin typeface="Calibri (MS)"/>
                <a:ea typeface="Calibri (MS)"/>
                <a:cs typeface="Calibri (MS)"/>
                <a:sym typeface="Calibri (MS)"/>
              </a:rPr>
              <a:t>Planner → Research → CodeGen → Debug → Docs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8807910" y="6581604"/>
            <a:ext cx="503453" cy="4556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2"/>
              </a:lnSpc>
            </a:pPr>
            <a:r>
              <a:rPr lang="en-US" sz="3002">
                <a:solidFill>
                  <a:srgbClr val="7E57FF"/>
                </a:solidFill>
                <a:latin typeface="Calibri (MS)"/>
                <a:ea typeface="Calibri (MS)"/>
                <a:cs typeface="Calibri (MS)"/>
                <a:sym typeface="Calibri (MS)"/>
              </a:rPr>
              <a:t>↓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4110866" y="7130748"/>
            <a:ext cx="10034807" cy="1249709"/>
            <a:chOff x="0" y="0"/>
            <a:chExt cx="13379742" cy="1666278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3379831" cy="1666367"/>
            </a:xfrm>
            <a:custGeom>
              <a:avLst/>
              <a:gdLst/>
              <a:ahLst/>
              <a:cxnLst/>
              <a:rect r="r" b="b" t="t" l="l"/>
              <a:pathLst>
                <a:path h="1666367" w="13379831">
                  <a:moveTo>
                    <a:pt x="0" y="277749"/>
                  </a:moveTo>
                  <a:cubicBezTo>
                    <a:pt x="0" y="124333"/>
                    <a:pt x="124333" y="0"/>
                    <a:pt x="277749" y="0"/>
                  </a:cubicBezTo>
                  <a:lnTo>
                    <a:pt x="13102082" y="0"/>
                  </a:lnTo>
                  <a:cubicBezTo>
                    <a:pt x="13255498" y="0"/>
                    <a:pt x="13379831" y="124333"/>
                    <a:pt x="13379831" y="277749"/>
                  </a:cubicBezTo>
                  <a:lnTo>
                    <a:pt x="13379831" y="1388618"/>
                  </a:lnTo>
                  <a:cubicBezTo>
                    <a:pt x="13379831" y="1542034"/>
                    <a:pt x="13255498" y="1666367"/>
                    <a:pt x="13102082" y="1666367"/>
                  </a:cubicBezTo>
                  <a:lnTo>
                    <a:pt x="277749" y="1666367"/>
                  </a:lnTo>
                  <a:cubicBezTo>
                    <a:pt x="124333" y="1666240"/>
                    <a:pt x="0" y="1541907"/>
                    <a:pt x="0" y="1388491"/>
                  </a:cubicBezTo>
                  <a:close/>
                </a:path>
              </a:pathLst>
            </a:custGeom>
            <a:solidFill>
              <a:srgbClr val="0E1627"/>
            </a:solidFill>
            <a:ln w="14299" cap="sq">
              <a:solidFill>
                <a:srgbClr val="23314C"/>
              </a:solidFill>
              <a:prstDash val="solid"/>
              <a:miter/>
            </a:ln>
          </p:spPr>
        </p:sp>
      </p:grpSp>
      <p:sp>
        <p:nvSpPr>
          <p:cNvPr name="TextBox 20" id="20"/>
          <p:cNvSpPr txBox="true"/>
          <p:nvPr/>
        </p:nvSpPr>
        <p:spPr>
          <a:xfrm rot="0">
            <a:off x="4483989" y="7392600"/>
            <a:ext cx="9288561" cy="7702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2401" b="true">
                <a:solidFill>
                  <a:srgbClr val="F4F6F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SQLite</a:t>
            </a:r>
          </a:p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A5B0C6"/>
                </a:solidFill>
                <a:latin typeface="Calibri (MS)"/>
                <a:ea typeface="Calibri (MS)"/>
                <a:cs typeface="Calibri (MS)"/>
                <a:sym typeface="Calibri (MS)"/>
              </a:rPr>
              <a:t>forgeai.db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070B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9814"/>
            <a:chOff x="0" y="0"/>
            <a:chExt cx="24402453" cy="14641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46431"/>
            </a:xfrm>
            <a:custGeom>
              <a:avLst/>
              <a:gdLst/>
              <a:ahLst/>
              <a:cxnLst/>
              <a:rect r="r" b="b" t="t" l="l"/>
              <a:pathLst>
                <a:path h="146431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46431"/>
                  </a:lnTo>
                  <a:lnTo>
                    <a:pt x="0" y="146431"/>
                  </a:lnTo>
                  <a:close/>
                </a:path>
              </a:pathLst>
            </a:custGeom>
            <a:solidFill>
              <a:srgbClr val="7E57FF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983675" y="449951"/>
            <a:ext cx="16289188" cy="876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63"/>
              </a:lnSpc>
            </a:pPr>
            <a:r>
              <a:rPr lang="en-US" sz="4053" b="true">
                <a:solidFill>
                  <a:srgbClr val="F4F6F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Multi-Agent Task Orchestration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747817" y="2738199"/>
            <a:ext cx="3171444" cy="5093189"/>
            <a:chOff x="0" y="0"/>
            <a:chExt cx="4228592" cy="679091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228592" cy="6790817"/>
            </a:xfrm>
            <a:custGeom>
              <a:avLst/>
              <a:gdLst/>
              <a:ahLst/>
              <a:cxnLst/>
              <a:rect r="r" b="b" t="t" l="l"/>
              <a:pathLst>
                <a:path h="6790817" w="4228592">
                  <a:moveTo>
                    <a:pt x="0" y="704723"/>
                  </a:moveTo>
                  <a:cubicBezTo>
                    <a:pt x="0" y="315595"/>
                    <a:pt x="315595" y="0"/>
                    <a:pt x="704723" y="0"/>
                  </a:cubicBezTo>
                  <a:lnTo>
                    <a:pt x="3523869" y="0"/>
                  </a:lnTo>
                  <a:cubicBezTo>
                    <a:pt x="3913124" y="0"/>
                    <a:pt x="4228592" y="315595"/>
                    <a:pt x="4228592" y="704723"/>
                  </a:cubicBezTo>
                  <a:lnTo>
                    <a:pt x="4228592" y="6086094"/>
                  </a:lnTo>
                  <a:cubicBezTo>
                    <a:pt x="4228592" y="6475349"/>
                    <a:pt x="3912997" y="6790817"/>
                    <a:pt x="3523869" y="6790817"/>
                  </a:cubicBezTo>
                  <a:lnTo>
                    <a:pt x="704723" y="6790817"/>
                  </a:lnTo>
                  <a:cubicBezTo>
                    <a:pt x="315595" y="6790944"/>
                    <a:pt x="0" y="6475349"/>
                    <a:pt x="0" y="6086094"/>
                  </a:cubicBezTo>
                  <a:close/>
                </a:path>
              </a:pathLst>
            </a:custGeom>
            <a:solidFill>
              <a:srgbClr val="0E1627"/>
            </a:solidFill>
            <a:ln w="14299" cap="sq">
              <a:solidFill>
                <a:srgbClr val="23314C"/>
              </a:solidFill>
              <a:prstDash val="solid"/>
              <a:miter/>
            </a:ln>
          </p:spPr>
        </p:sp>
      </p:grpSp>
      <p:sp>
        <p:nvSpPr>
          <p:cNvPr name="TextBox 7" id="7"/>
          <p:cNvSpPr txBox="true"/>
          <p:nvPr/>
        </p:nvSpPr>
        <p:spPr>
          <a:xfrm rot="0">
            <a:off x="1120940" y="2971467"/>
            <a:ext cx="2425198" cy="1838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F4F6F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Planner Agent</a:t>
            </a:r>
          </a:p>
          <a:p>
            <a:pPr algn="l">
              <a:lnSpc>
                <a:spcPts val="3480"/>
              </a:lnSpc>
            </a:pPr>
            <a:r>
              <a:rPr lang="en-US" sz="2900">
                <a:solidFill>
                  <a:srgbClr val="A5B0C6"/>
                </a:solidFill>
                <a:latin typeface="Calibri (MS)"/>
                <a:ea typeface="Calibri (MS)"/>
                <a:cs typeface="Calibri (MS)"/>
                <a:sym typeface="Calibri (MS)"/>
              </a:rPr>
              <a:t>Decomposes the request into a task DAG.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4248131" y="2738199"/>
            <a:ext cx="3171444" cy="5093189"/>
            <a:chOff x="0" y="0"/>
            <a:chExt cx="4228592" cy="679091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228592" cy="6790817"/>
            </a:xfrm>
            <a:custGeom>
              <a:avLst/>
              <a:gdLst/>
              <a:ahLst/>
              <a:cxnLst/>
              <a:rect r="r" b="b" t="t" l="l"/>
              <a:pathLst>
                <a:path h="6790817" w="4228592">
                  <a:moveTo>
                    <a:pt x="0" y="704723"/>
                  </a:moveTo>
                  <a:cubicBezTo>
                    <a:pt x="0" y="315595"/>
                    <a:pt x="315595" y="0"/>
                    <a:pt x="704723" y="0"/>
                  </a:cubicBezTo>
                  <a:lnTo>
                    <a:pt x="3523869" y="0"/>
                  </a:lnTo>
                  <a:cubicBezTo>
                    <a:pt x="3913124" y="0"/>
                    <a:pt x="4228592" y="315595"/>
                    <a:pt x="4228592" y="704723"/>
                  </a:cubicBezTo>
                  <a:lnTo>
                    <a:pt x="4228592" y="6086094"/>
                  </a:lnTo>
                  <a:cubicBezTo>
                    <a:pt x="4228592" y="6475349"/>
                    <a:pt x="3912997" y="6790817"/>
                    <a:pt x="3523869" y="6790817"/>
                  </a:cubicBezTo>
                  <a:lnTo>
                    <a:pt x="704723" y="6790817"/>
                  </a:lnTo>
                  <a:cubicBezTo>
                    <a:pt x="315595" y="6790944"/>
                    <a:pt x="0" y="6475349"/>
                    <a:pt x="0" y="6086094"/>
                  </a:cubicBezTo>
                  <a:close/>
                </a:path>
              </a:pathLst>
            </a:custGeom>
            <a:solidFill>
              <a:srgbClr val="0E1627"/>
            </a:solidFill>
            <a:ln w="14299" cap="sq">
              <a:solidFill>
                <a:srgbClr val="23314C"/>
              </a:solidFill>
              <a:prstDash val="solid"/>
              <a:miter/>
            </a:ln>
          </p:spPr>
        </p:sp>
      </p:grpSp>
      <p:sp>
        <p:nvSpPr>
          <p:cNvPr name="TextBox 10" id="10"/>
          <p:cNvSpPr txBox="true"/>
          <p:nvPr/>
        </p:nvSpPr>
        <p:spPr>
          <a:xfrm rot="0">
            <a:off x="4621263" y="2980992"/>
            <a:ext cx="2425198" cy="2686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80"/>
              </a:lnSpc>
            </a:pPr>
            <a:r>
              <a:rPr lang="en-US" sz="2900" b="true">
                <a:solidFill>
                  <a:srgbClr val="F4F6F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Research Agent</a:t>
            </a:r>
          </a:p>
          <a:p>
            <a:pPr algn="l">
              <a:lnSpc>
                <a:spcPts val="3480"/>
              </a:lnSpc>
            </a:pPr>
            <a:r>
              <a:rPr lang="en-US" sz="2900">
                <a:solidFill>
                  <a:srgbClr val="A5B0C6"/>
                </a:solidFill>
                <a:latin typeface="Calibri (MS)"/>
                <a:ea typeface="Calibri (MS)"/>
                <a:cs typeface="Calibri (MS)"/>
                <a:sym typeface="Calibri (MS)"/>
              </a:rPr>
              <a:t>Collects design/UX references and supporting context.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7748445" y="2738199"/>
            <a:ext cx="3171444" cy="5093189"/>
            <a:chOff x="0" y="0"/>
            <a:chExt cx="4228592" cy="679091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228592" cy="6790817"/>
            </a:xfrm>
            <a:custGeom>
              <a:avLst/>
              <a:gdLst/>
              <a:ahLst/>
              <a:cxnLst/>
              <a:rect r="r" b="b" t="t" l="l"/>
              <a:pathLst>
                <a:path h="6790817" w="4228592">
                  <a:moveTo>
                    <a:pt x="0" y="704723"/>
                  </a:moveTo>
                  <a:cubicBezTo>
                    <a:pt x="0" y="315595"/>
                    <a:pt x="315595" y="0"/>
                    <a:pt x="704723" y="0"/>
                  </a:cubicBezTo>
                  <a:lnTo>
                    <a:pt x="3523869" y="0"/>
                  </a:lnTo>
                  <a:cubicBezTo>
                    <a:pt x="3913124" y="0"/>
                    <a:pt x="4228592" y="315595"/>
                    <a:pt x="4228592" y="704723"/>
                  </a:cubicBezTo>
                  <a:lnTo>
                    <a:pt x="4228592" y="6086094"/>
                  </a:lnTo>
                  <a:cubicBezTo>
                    <a:pt x="4228592" y="6475349"/>
                    <a:pt x="3912997" y="6790817"/>
                    <a:pt x="3523869" y="6790817"/>
                  </a:cubicBezTo>
                  <a:lnTo>
                    <a:pt x="704723" y="6790817"/>
                  </a:lnTo>
                  <a:cubicBezTo>
                    <a:pt x="315595" y="6790944"/>
                    <a:pt x="0" y="6475349"/>
                    <a:pt x="0" y="6086094"/>
                  </a:cubicBezTo>
                  <a:close/>
                </a:path>
              </a:pathLst>
            </a:custGeom>
            <a:solidFill>
              <a:srgbClr val="0E1627"/>
            </a:solidFill>
            <a:ln w="14299" cap="sq">
              <a:solidFill>
                <a:srgbClr val="23314C"/>
              </a:solidFill>
              <a:prstDash val="solid"/>
              <a:miter/>
            </a:ln>
          </p:spPr>
        </p:sp>
      </p:grpSp>
      <p:sp>
        <p:nvSpPr>
          <p:cNvPr name="TextBox 13" id="13"/>
          <p:cNvSpPr txBox="true"/>
          <p:nvPr/>
        </p:nvSpPr>
        <p:spPr>
          <a:xfrm rot="0">
            <a:off x="8121577" y="2971467"/>
            <a:ext cx="2425198" cy="1714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 b="true">
                <a:solidFill>
                  <a:srgbClr val="F4F6F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CodeGen Agent</a:t>
            </a:r>
          </a:p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A5B0C6"/>
                </a:solidFill>
                <a:latin typeface="Calibri (MS)"/>
                <a:ea typeface="Calibri (MS)"/>
                <a:cs typeface="Calibri (MS)"/>
                <a:sym typeface="Calibri (MS)"/>
              </a:rPr>
              <a:t>Generates the Next.js project/file tree.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11248758" y="2738199"/>
            <a:ext cx="3171444" cy="5093189"/>
            <a:chOff x="0" y="0"/>
            <a:chExt cx="4228592" cy="679091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228592" cy="6790817"/>
            </a:xfrm>
            <a:custGeom>
              <a:avLst/>
              <a:gdLst/>
              <a:ahLst/>
              <a:cxnLst/>
              <a:rect r="r" b="b" t="t" l="l"/>
              <a:pathLst>
                <a:path h="6790817" w="4228592">
                  <a:moveTo>
                    <a:pt x="0" y="704723"/>
                  </a:moveTo>
                  <a:cubicBezTo>
                    <a:pt x="0" y="315595"/>
                    <a:pt x="315595" y="0"/>
                    <a:pt x="704723" y="0"/>
                  </a:cubicBezTo>
                  <a:lnTo>
                    <a:pt x="3523869" y="0"/>
                  </a:lnTo>
                  <a:cubicBezTo>
                    <a:pt x="3913124" y="0"/>
                    <a:pt x="4228592" y="315595"/>
                    <a:pt x="4228592" y="704723"/>
                  </a:cubicBezTo>
                  <a:lnTo>
                    <a:pt x="4228592" y="6086094"/>
                  </a:lnTo>
                  <a:cubicBezTo>
                    <a:pt x="4228592" y="6475349"/>
                    <a:pt x="3912997" y="6790817"/>
                    <a:pt x="3523869" y="6790817"/>
                  </a:cubicBezTo>
                  <a:lnTo>
                    <a:pt x="704723" y="6790817"/>
                  </a:lnTo>
                  <a:cubicBezTo>
                    <a:pt x="315595" y="6790944"/>
                    <a:pt x="0" y="6475349"/>
                    <a:pt x="0" y="6086094"/>
                  </a:cubicBezTo>
                  <a:close/>
                </a:path>
              </a:pathLst>
            </a:custGeom>
            <a:solidFill>
              <a:srgbClr val="0E1627"/>
            </a:solidFill>
            <a:ln w="14299" cap="sq">
              <a:solidFill>
                <a:srgbClr val="23314C"/>
              </a:solidFill>
              <a:prstDash val="solid"/>
              <a:miter/>
            </a:ln>
          </p:spPr>
        </p:sp>
      </p:grpSp>
      <p:sp>
        <p:nvSpPr>
          <p:cNvPr name="TextBox 16" id="16"/>
          <p:cNvSpPr txBox="true"/>
          <p:nvPr/>
        </p:nvSpPr>
        <p:spPr>
          <a:xfrm rot="0">
            <a:off x="11621891" y="2971467"/>
            <a:ext cx="2425198" cy="2543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 b="true">
                <a:solidFill>
                  <a:srgbClr val="F4F6F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Debug &amp; Repair Agent</a:t>
            </a:r>
          </a:p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A5B0C6"/>
                </a:solidFill>
                <a:latin typeface="Calibri (MS)"/>
                <a:ea typeface="Calibri (MS)"/>
                <a:cs typeface="Calibri (MS)"/>
                <a:sym typeface="Calibri (MS)"/>
              </a:rPr>
              <a:t>Builds in a sandbox and iteratively repairs errors.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14749082" y="2738199"/>
            <a:ext cx="3171444" cy="5093189"/>
            <a:chOff x="0" y="0"/>
            <a:chExt cx="4228592" cy="6790919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4228592" cy="6790817"/>
            </a:xfrm>
            <a:custGeom>
              <a:avLst/>
              <a:gdLst/>
              <a:ahLst/>
              <a:cxnLst/>
              <a:rect r="r" b="b" t="t" l="l"/>
              <a:pathLst>
                <a:path h="6790817" w="4228592">
                  <a:moveTo>
                    <a:pt x="0" y="704723"/>
                  </a:moveTo>
                  <a:cubicBezTo>
                    <a:pt x="0" y="315595"/>
                    <a:pt x="315595" y="0"/>
                    <a:pt x="704723" y="0"/>
                  </a:cubicBezTo>
                  <a:lnTo>
                    <a:pt x="3523869" y="0"/>
                  </a:lnTo>
                  <a:cubicBezTo>
                    <a:pt x="3913124" y="0"/>
                    <a:pt x="4228592" y="315595"/>
                    <a:pt x="4228592" y="704723"/>
                  </a:cubicBezTo>
                  <a:lnTo>
                    <a:pt x="4228592" y="6086094"/>
                  </a:lnTo>
                  <a:cubicBezTo>
                    <a:pt x="4228592" y="6475349"/>
                    <a:pt x="3912997" y="6790817"/>
                    <a:pt x="3523869" y="6790817"/>
                  </a:cubicBezTo>
                  <a:lnTo>
                    <a:pt x="704723" y="6790817"/>
                  </a:lnTo>
                  <a:cubicBezTo>
                    <a:pt x="315595" y="6790944"/>
                    <a:pt x="0" y="6475349"/>
                    <a:pt x="0" y="6086094"/>
                  </a:cubicBezTo>
                  <a:close/>
                </a:path>
              </a:pathLst>
            </a:custGeom>
            <a:solidFill>
              <a:srgbClr val="0E1627"/>
            </a:solidFill>
            <a:ln w="14299" cap="sq">
              <a:solidFill>
                <a:srgbClr val="23314C"/>
              </a:solidFill>
              <a:prstDash val="solid"/>
              <a:miter/>
            </a:ln>
          </p:spPr>
        </p:sp>
      </p:grpSp>
      <p:sp>
        <p:nvSpPr>
          <p:cNvPr name="TextBox 19" id="19"/>
          <p:cNvSpPr txBox="true"/>
          <p:nvPr/>
        </p:nvSpPr>
        <p:spPr>
          <a:xfrm rot="0">
            <a:off x="15122204" y="2971467"/>
            <a:ext cx="2425198" cy="2543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 b="true">
                <a:solidFill>
                  <a:srgbClr val="F4F6F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Documentation Agent</a:t>
            </a:r>
          </a:p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A5B0C6"/>
                </a:solidFill>
                <a:latin typeface="Calibri (MS)"/>
                <a:ea typeface="Calibri (MS)"/>
                <a:cs typeface="Calibri (MS)"/>
                <a:sym typeface="Calibri (MS)"/>
              </a:rPr>
              <a:t>Produces README and component documentation.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070B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9814"/>
            <a:chOff x="0" y="0"/>
            <a:chExt cx="24402453" cy="14641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46431"/>
            </a:xfrm>
            <a:custGeom>
              <a:avLst/>
              <a:gdLst/>
              <a:ahLst/>
              <a:cxnLst/>
              <a:rect r="r" b="b" t="t" l="l"/>
              <a:pathLst>
                <a:path h="146431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46431"/>
                  </a:lnTo>
                  <a:lnTo>
                    <a:pt x="0" y="146431"/>
                  </a:lnTo>
                  <a:close/>
                </a:path>
              </a:pathLst>
            </a:custGeom>
            <a:solidFill>
              <a:srgbClr val="7E57FF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983675" y="430901"/>
            <a:ext cx="16289188" cy="781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00"/>
              </a:lnSpc>
            </a:pPr>
            <a:r>
              <a:rPr lang="en-US" sz="4500" b="true">
                <a:solidFill>
                  <a:srgbClr val="F4F6F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Local Execution &amp; Testing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189577" y="2184844"/>
            <a:ext cx="16014659" cy="2971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>
                <a:solidFill>
                  <a:srgbClr val="F4F6FC"/>
                </a:solidFill>
                <a:latin typeface="Calibri (MS)"/>
                <a:ea typeface="Calibri (MS)"/>
                <a:cs typeface="Calibri (MS)"/>
                <a:sym typeface="Calibri (MS)"/>
              </a:rPr>
              <a:t>Launch frontend and backend together:  python run_local.py</a:t>
            </a:r>
          </a:p>
          <a:p>
            <a:pPr algn="l">
              <a:lnSpc>
                <a:spcPts val="3840"/>
              </a:lnSpc>
            </a:pPr>
            <a:r>
              <a:rPr lang="en-US" sz="3200">
                <a:solidFill>
                  <a:srgbClr val="F4F6FC"/>
                </a:solidFill>
                <a:latin typeface="Calibri (MS)"/>
                <a:ea typeface="Calibri (MS)"/>
                <a:cs typeface="Calibri (MS)"/>
                <a:sym typeface="Calibri (MS)"/>
              </a:rPr>
              <a:t>Windows alternative:  start_dev.bat</a:t>
            </a:r>
          </a:p>
          <a:p>
            <a:pPr algn="l">
              <a:lnSpc>
                <a:spcPts val="3840"/>
              </a:lnSpc>
            </a:pPr>
            <a:r>
              <a:rPr lang="en-US" sz="3200">
                <a:solidFill>
                  <a:srgbClr val="F4F6FC"/>
                </a:solidFill>
                <a:latin typeface="Calibri (MS)"/>
                <a:ea typeface="Calibri (MS)"/>
                <a:cs typeface="Calibri (MS)"/>
                <a:sym typeface="Calibri (MS)"/>
              </a:rPr>
              <a:t>Frontend Web App:  localhost:3000</a:t>
            </a:r>
          </a:p>
          <a:p>
            <a:pPr algn="l">
              <a:lnSpc>
                <a:spcPts val="3840"/>
              </a:lnSpc>
            </a:pPr>
            <a:r>
              <a:rPr lang="en-US" sz="3200">
                <a:solidFill>
                  <a:srgbClr val="F4F6FC"/>
                </a:solidFill>
                <a:latin typeface="Calibri (MS)"/>
                <a:ea typeface="Calibri (MS)"/>
                <a:cs typeface="Calibri (MS)"/>
                <a:sym typeface="Calibri (MS)"/>
              </a:rPr>
              <a:t>Backend Gateway API:  localhost:8000</a:t>
            </a:r>
          </a:p>
          <a:p>
            <a:pPr algn="l">
              <a:lnSpc>
                <a:spcPts val="3840"/>
              </a:lnSpc>
            </a:pPr>
            <a:r>
              <a:rPr lang="en-US" sz="3200">
                <a:solidFill>
                  <a:srgbClr val="F4F6FC"/>
                </a:solidFill>
                <a:latin typeface="Calibri (MS)"/>
                <a:ea typeface="Calibri (MS)"/>
                <a:cs typeface="Calibri (MS)"/>
                <a:sym typeface="Calibri (MS)"/>
              </a:rPr>
              <a:t>Swagger API Docs:  localhost:8000/docs</a:t>
            </a:r>
          </a:p>
          <a:p>
            <a:pPr algn="l">
              <a:lnSpc>
                <a:spcPts val="3840"/>
              </a:lnSpc>
            </a:pPr>
            <a:r>
              <a:rPr lang="en-US" sz="3200">
                <a:solidFill>
                  <a:srgbClr val="F4F6FC"/>
                </a:solidFill>
                <a:latin typeface="Calibri (MS)"/>
                <a:ea typeface="Calibri (MS)"/>
                <a:cs typeface="Calibri (MS)"/>
                <a:sym typeface="Calibri (MS)"/>
              </a:rPr>
              <a:t>Automated end-to-end test:  python test_e2e_local.py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70B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9814"/>
            <a:chOff x="0" y="0"/>
            <a:chExt cx="24402453" cy="14641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46431"/>
            </a:xfrm>
            <a:custGeom>
              <a:avLst/>
              <a:gdLst/>
              <a:ahLst/>
              <a:cxnLst/>
              <a:rect r="r" b="b" t="t" l="l"/>
              <a:pathLst>
                <a:path h="146431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46431"/>
                  </a:lnTo>
                  <a:lnTo>
                    <a:pt x="0" y="146431"/>
                  </a:lnTo>
                  <a:close/>
                </a:path>
              </a:pathLst>
            </a:custGeom>
            <a:solidFill>
              <a:srgbClr val="7E57FF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983675" y="449951"/>
            <a:ext cx="16289188" cy="876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63"/>
              </a:lnSpc>
            </a:pPr>
            <a:r>
              <a:rPr lang="en-US" sz="4053" b="true">
                <a:solidFill>
                  <a:srgbClr val="F4F6F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Results / Outcome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4861" y="1380296"/>
            <a:ext cx="16014659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A5B0C6"/>
                </a:solidFill>
                <a:latin typeface="Calibri (MS)"/>
                <a:ea typeface="Calibri (MS)"/>
                <a:cs typeface="Calibri (MS)"/>
                <a:sym typeface="Calibri (MS)"/>
              </a:rPr>
              <a:t>Actual ForgeAI frontend — application builder landing page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3177329" y="1818446"/>
            <a:ext cx="5973591" cy="8098765"/>
            <a:chOff x="0" y="0"/>
            <a:chExt cx="7964788" cy="10798353"/>
          </a:xfrm>
        </p:grpSpPr>
        <p:sp>
          <p:nvSpPr>
            <p:cNvPr name="Freeform 7" id="7" descr="1000235005.jpg"/>
            <p:cNvSpPr/>
            <p:nvPr/>
          </p:nvSpPr>
          <p:spPr>
            <a:xfrm flipH="false" flipV="false" rot="0">
              <a:off x="0" y="0"/>
              <a:ext cx="7964825" cy="10798302"/>
            </a:xfrm>
            <a:custGeom>
              <a:avLst/>
              <a:gdLst/>
              <a:ahLst/>
              <a:cxnLst/>
              <a:rect r="r" b="b" t="t" l="l"/>
              <a:pathLst>
                <a:path h="10798302" w="7964825">
                  <a:moveTo>
                    <a:pt x="0" y="0"/>
                  </a:moveTo>
                  <a:lnTo>
                    <a:pt x="7964825" y="0"/>
                  </a:lnTo>
                  <a:lnTo>
                    <a:pt x="7964825" y="10798302"/>
                  </a:lnTo>
                  <a:lnTo>
                    <a:pt x="0" y="1079830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10392" r="0" b="-10392"/>
              </a:stretch>
            </a:blipFill>
          </p:spPr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70B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9814"/>
            <a:chOff x="0" y="0"/>
            <a:chExt cx="24402453" cy="14641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46431"/>
            </a:xfrm>
            <a:custGeom>
              <a:avLst/>
              <a:gdLst/>
              <a:ahLst/>
              <a:cxnLst/>
              <a:rect r="r" b="b" t="t" l="l"/>
              <a:pathLst>
                <a:path h="146431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46431"/>
                  </a:lnTo>
                  <a:lnTo>
                    <a:pt x="0" y="146431"/>
                  </a:lnTo>
                  <a:close/>
                </a:path>
              </a:pathLst>
            </a:custGeom>
            <a:solidFill>
              <a:srgbClr val="7E57FF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983675" y="449951"/>
            <a:ext cx="16289188" cy="876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63"/>
              </a:lnSpc>
            </a:pPr>
            <a:r>
              <a:rPr lang="en-US" sz="4053" b="true">
                <a:solidFill>
                  <a:srgbClr val="F4F6F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Running Application — Authentication Interface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4861" y="1370771"/>
            <a:ext cx="16014659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9"/>
              </a:lnSpc>
            </a:pPr>
            <a:r>
              <a:rPr lang="en-US" sz="2199">
                <a:solidFill>
                  <a:srgbClr val="A5B0C6"/>
                </a:solidFill>
                <a:latin typeface="Calibri (MS)"/>
                <a:ea typeface="Calibri (MS)"/>
                <a:cs typeface="Calibri (MS)"/>
                <a:sym typeface="Calibri (MS)"/>
              </a:rPr>
              <a:t>Actual ForgeAI account login screen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6589252" y="1647206"/>
            <a:ext cx="5078035" cy="8167402"/>
            <a:chOff x="0" y="0"/>
            <a:chExt cx="6770713" cy="10889869"/>
          </a:xfrm>
        </p:grpSpPr>
        <p:sp>
          <p:nvSpPr>
            <p:cNvPr name="Freeform 7" id="7" descr="1000234999.jpg"/>
            <p:cNvSpPr/>
            <p:nvPr/>
          </p:nvSpPr>
          <p:spPr>
            <a:xfrm flipH="false" flipV="false" rot="0">
              <a:off x="0" y="0"/>
              <a:ext cx="6770751" cy="10889869"/>
            </a:xfrm>
            <a:custGeom>
              <a:avLst/>
              <a:gdLst/>
              <a:ahLst/>
              <a:cxnLst/>
              <a:rect r="r" b="b" t="t" l="l"/>
              <a:pathLst>
                <a:path h="10889869" w="6770751">
                  <a:moveTo>
                    <a:pt x="0" y="0"/>
                  </a:moveTo>
                  <a:lnTo>
                    <a:pt x="6770751" y="0"/>
                  </a:lnTo>
                  <a:lnTo>
                    <a:pt x="6770751" y="10889869"/>
                  </a:lnTo>
                  <a:lnTo>
                    <a:pt x="0" y="108898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70B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9814"/>
            <a:chOff x="0" y="0"/>
            <a:chExt cx="24402453" cy="14641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46431"/>
            </a:xfrm>
            <a:custGeom>
              <a:avLst/>
              <a:gdLst/>
              <a:ahLst/>
              <a:cxnLst/>
              <a:rect r="r" b="b" t="t" l="l"/>
              <a:pathLst>
                <a:path h="146431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46431"/>
                  </a:lnTo>
                  <a:lnTo>
                    <a:pt x="0" y="146431"/>
                  </a:lnTo>
                  <a:close/>
                </a:path>
              </a:pathLst>
            </a:custGeom>
            <a:solidFill>
              <a:srgbClr val="7E57FF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983675" y="449951"/>
            <a:ext cx="16289188" cy="876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63"/>
              </a:lnSpc>
            </a:pPr>
            <a:r>
              <a:rPr lang="en-US" sz="4053" b="true">
                <a:solidFill>
                  <a:srgbClr val="F4F6F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Build Execution Result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4861" y="1370771"/>
            <a:ext cx="16014659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9"/>
              </a:lnSpc>
            </a:pPr>
            <a:r>
              <a:rPr lang="en-US" sz="2199">
                <a:solidFill>
                  <a:srgbClr val="A5B0C6"/>
                </a:solidFill>
                <a:latin typeface="Calibri (MS)"/>
                <a:ea typeface="Calibri (MS)"/>
                <a:cs typeface="Calibri (MS)"/>
                <a:sym typeface="Calibri (MS)"/>
              </a:rPr>
              <a:t>Actual autonomous multi-agent build stream and DAG telemetry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5864514" y="1619755"/>
            <a:ext cx="6596158" cy="8304667"/>
            <a:chOff x="0" y="0"/>
            <a:chExt cx="8794877" cy="11072889"/>
          </a:xfrm>
        </p:grpSpPr>
        <p:sp>
          <p:nvSpPr>
            <p:cNvPr name="Freeform 7" id="7" descr="1000235002.jpg"/>
            <p:cNvSpPr/>
            <p:nvPr/>
          </p:nvSpPr>
          <p:spPr>
            <a:xfrm flipH="false" flipV="false" rot="0">
              <a:off x="0" y="0"/>
              <a:ext cx="8794877" cy="11072876"/>
            </a:xfrm>
            <a:custGeom>
              <a:avLst/>
              <a:gdLst/>
              <a:ahLst/>
              <a:cxnLst/>
              <a:rect r="r" b="b" t="t" l="l"/>
              <a:pathLst>
                <a:path h="11072876" w="8794877">
                  <a:moveTo>
                    <a:pt x="0" y="0"/>
                  </a:moveTo>
                  <a:lnTo>
                    <a:pt x="8794877" y="0"/>
                  </a:lnTo>
                  <a:lnTo>
                    <a:pt x="8794877" y="11072876"/>
                  </a:lnTo>
                  <a:lnTo>
                    <a:pt x="0" y="110728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747817" y="2257758"/>
            <a:ext cx="4269581" cy="1730140"/>
            <a:chOff x="0" y="0"/>
            <a:chExt cx="5692775" cy="230685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692648" cy="2306828"/>
            </a:xfrm>
            <a:custGeom>
              <a:avLst/>
              <a:gdLst/>
              <a:ahLst/>
              <a:cxnLst/>
              <a:rect r="r" b="b" t="t" l="l"/>
              <a:pathLst>
                <a:path h="2306828" w="5692648">
                  <a:moveTo>
                    <a:pt x="0" y="384429"/>
                  </a:moveTo>
                  <a:cubicBezTo>
                    <a:pt x="0" y="172085"/>
                    <a:pt x="172085" y="0"/>
                    <a:pt x="384429" y="0"/>
                  </a:cubicBezTo>
                  <a:lnTo>
                    <a:pt x="5308219" y="0"/>
                  </a:lnTo>
                  <a:cubicBezTo>
                    <a:pt x="5520563" y="0"/>
                    <a:pt x="5692648" y="172085"/>
                    <a:pt x="5692648" y="384429"/>
                  </a:cubicBezTo>
                  <a:lnTo>
                    <a:pt x="5692648" y="1922399"/>
                  </a:lnTo>
                  <a:cubicBezTo>
                    <a:pt x="5692648" y="2134743"/>
                    <a:pt x="5520563" y="2306828"/>
                    <a:pt x="5308219" y="2306828"/>
                  </a:cubicBezTo>
                  <a:lnTo>
                    <a:pt x="384429" y="2306828"/>
                  </a:lnTo>
                  <a:cubicBezTo>
                    <a:pt x="172085" y="2306828"/>
                    <a:pt x="0" y="2134743"/>
                    <a:pt x="0" y="1922399"/>
                  </a:cubicBezTo>
                  <a:close/>
                </a:path>
              </a:pathLst>
            </a:custGeom>
            <a:solidFill>
              <a:srgbClr val="0E1627"/>
            </a:solidFill>
            <a:ln w="14299" cap="sq">
              <a:solidFill>
                <a:srgbClr val="23314C"/>
              </a:solidFill>
              <a:prstDash val="solid"/>
              <a:miter/>
            </a:ln>
          </p:spPr>
        </p:sp>
      </p:grpSp>
      <p:sp>
        <p:nvSpPr>
          <p:cNvPr name="TextBox 10" id="10"/>
          <p:cNvSpPr txBox="true"/>
          <p:nvPr/>
        </p:nvSpPr>
        <p:spPr>
          <a:xfrm rot="0">
            <a:off x="1120940" y="2519610"/>
            <a:ext cx="3523336" cy="12506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2401" b="true">
                <a:solidFill>
                  <a:srgbClr val="F4F6F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Agent telemetry</a:t>
            </a:r>
          </a:p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A5B0C6"/>
                </a:solidFill>
                <a:latin typeface="Calibri (MS)"/>
                <a:ea typeface="Calibri (MS)"/>
                <a:cs typeface="Calibri (MS)"/>
                <a:sym typeface="Calibri (MS)"/>
              </a:rPr>
              <a:t>Planner, Research, CodeGen, Debug/Repair and Documentation workers are represented in the build stream.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747817" y="4385405"/>
            <a:ext cx="4269581" cy="1730140"/>
            <a:chOff x="0" y="0"/>
            <a:chExt cx="5692775" cy="230685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692648" cy="2306828"/>
            </a:xfrm>
            <a:custGeom>
              <a:avLst/>
              <a:gdLst/>
              <a:ahLst/>
              <a:cxnLst/>
              <a:rect r="r" b="b" t="t" l="l"/>
              <a:pathLst>
                <a:path h="2306828" w="5692648">
                  <a:moveTo>
                    <a:pt x="0" y="384429"/>
                  </a:moveTo>
                  <a:cubicBezTo>
                    <a:pt x="0" y="172085"/>
                    <a:pt x="172085" y="0"/>
                    <a:pt x="384429" y="0"/>
                  </a:cubicBezTo>
                  <a:lnTo>
                    <a:pt x="5308219" y="0"/>
                  </a:lnTo>
                  <a:cubicBezTo>
                    <a:pt x="5520563" y="0"/>
                    <a:pt x="5692648" y="172085"/>
                    <a:pt x="5692648" y="384429"/>
                  </a:cubicBezTo>
                  <a:lnTo>
                    <a:pt x="5692648" y="1922399"/>
                  </a:lnTo>
                  <a:cubicBezTo>
                    <a:pt x="5692648" y="2134743"/>
                    <a:pt x="5520563" y="2306828"/>
                    <a:pt x="5308219" y="2306828"/>
                  </a:cubicBezTo>
                  <a:lnTo>
                    <a:pt x="384429" y="2306828"/>
                  </a:lnTo>
                  <a:cubicBezTo>
                    <a:pt x="172085" y="2306828"/>
                    <a:pt x="0" y="2134743"/>
                    <a:pt x="0" y="1922399"/>
                  </a:cubicBezTo>
                  <a:close/>
                </a:path>
              </a:pathLst>
            </a:custGeom>
            <a:solidFill>
              <a:srgbClr val="0E1627"/>
            </a:solidFill>
            <a:ln w="14299" cap="sq">
              <a:solidFill>
                <a:srgbClr val="23314C"/>
              </a:solidFill>
              <a:prstDash val="solid"/>
              <a:miter/>
            </a:ln>
          </p:spPr>
        </p:sp>
      </p:grpSp>
      <p:sp>
        <p:nvSpPr>
          <p:cNvPr name="TextBox 13" id="13"/>
          <p:cNvSpPr txBox="true"/>
          <p:nvPr/>
        </p:nvSpPr>
        <p:spPr>
          <a:xfrm rot="0">
            <a:off x="1120940" y="4647257"/>
            <a:ext cx="3523336" cy="12506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2401" b="true">
                <a:solidFill>
                  <a:srgbClr val="F4F6F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Execution DAG</a:t>
            </a:r>
          </a:p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A5B0C6"/>
                </a:solidFill>
                <a:latin typeface="Calibri (MS)"/>
                <a:ea typeface="Calibri (MS)"/>
                <a:cs typeface="Calibri (MS)"/>
                <a:sym typeface="Calibri (MS)"/>
              </a:rPr>
              <a:t>Tasks progress through idea decomposition, research, generation, sandbox build/typecheck and documentation.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747817" y="6513043"/>
            <a:ext cx="4269581" cy="1730140"/>
            <a:chOff x="0" y="0"/>
            <a:chExt cx="5692775" cy="2306853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692648" cy="2306828"/>
            </a:xfrm>
            <a:custGeom>
              <a:avLst/>
              <a:gdLst/>
              <a:ahLst/>
              <a:cxnLst/>
              <a:rect r="r" b="b" t="t" l="l"/>
              <a:pathLst>
                <a:path h="2306828" w="5692648">
                  <a:moveTo>
                    <a:pt x="0" y="384429"/>
                  </a:moveTo>
                  <a:cubicBezTo>
                    <a:pt x="0" y="172085"/>
                    <a:pt x="172085" y="0"/>
                    <a:pt x="384429" y="0"/>
                  </a:cubicBezTo>
                  <a:lnTo>
                    <a:pt x="5308219" y="0"/>
                  </a:lnTo>
                  <a:cubicBezTo>
                    <a:pt x="5520563" y="0"/>
                    <a:pt x="5692648" y="172085"/>
                    <a:pt x="5692648" y="384429"/>
                  </a:cubicBezTo>
                  <a:lnTo>
                    <a:pt x="5692648" y="1922399"/>
                  </a:lnTo>
                  <a:cubicBezTo>
                    <a:pt x="5692648" y="2134743"/>
                    <a:pt x="5520563" y="2306828"/>
                    <a:pt x="5308219" y="2306828"/>
                  </a:cubicBezTo>
                  <a:lnTo>
                    <a:pt x="384429" y="2306828"/>
                  </a:lnTo>
                  <a:cubicBezTo>
                    <a:pt x="172085" y="2306828"/>
                    <a:pt x="0" y="2134743"/>
                    <a:pt x="0" y="1922399"/>
                  </a:cubicBezTo>
                  <a:close/>
                </a:path>
              </a:pathLst>
            </a:custGeom>
            <a:solidFill>
              <a:srgbClr val="0E1627"/>
            </a:solidFill>
            <a:ln w="14299" cap="sq">
              <a:solidFill>
                <a:srgbClr val="23314C"/>
              </a:solidFill>
              <a:prstDash val="solid"/>
              <a:miter/>
            </a:ln>
          </p:spPr>
        </p:sp>
      </p:grpSp>
      <p:sp>
        <p:nvSpPr>
          <p:cNvPr name="TextBox 16" id="16"/>
          <p:cNvSpPr txBox="true"/>
          <p:nvPr/>
        </p:nvSpPr>
        <p:spPr>
          <a:xfrm rot="0">
            <a:off x="1120940" y="6774894"/>
            <a:ext cx="3523336" cy="12506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2401" b="true">
                <a:solidFill>
                  <a:srgbClr val="F4F6F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Live stream</a:t>
            </a:r>
          </a:p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A5B0C6"/>
                </a:solidFill>
                <a:latin typeface="Calibri (MS)"/>
                <a:ea typeface="Calibri (MS)"/>
                <a:cs typeface="Calibri (MS)"/>
                <a:sym typeface="Calibri (MS)"/>
              </a:rPr>
              <a:t>The interface provides a live socket area for execution feedback.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>
      <p:bgPr>
        <a:solidFill>
          <a:srgbClr val="070B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9814"/>
            <a:chOff x="0" y="0"/>
            <a:chExt cx="24402453" cy="14641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46431"/>
            </a:xfrm>
            <a:custGeom>
              <a:avLst/>
              <a:gdLst/>
              <a:ahLst/>
              <a:cxnLst/>
              <a:rect r="r" b="b" t="t" l="l"/>
              <a:pathLst>
                <a:path h="146431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46431"/>
                  </a:lnTo>
                  <a:lnTo>
                    <a:pt x="0" y="146431"/>
                  </a:lnTo>
                  <a:close/>
                </a:path>
              </a:pathLst>
            </a:custGeom>
            <a:solidFill>
              <a:srgbClr val="7E57FF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983675" y="440426"/>
            <a:ext cx="16289188" cy="723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200" b="true">
                <a:solidFill>
                  <a:srgbClr val="F4F6F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Repository Structure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189577" y="2184844"/>
            <a:ext cx="16014659" cy="2686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80"/>
              </a:lnSpc>
            </a:pPr>
            <a:r>
              <a:rPr lang="en-US" sz="2900">
                <a:solidFill>
                  <a:srgbClr val="F4F6FC"/>
                </a:solidFill>
                <a:latin typeface="Calibri (MS)"/>
                <a:ea typeface="Calibri (MS)"/>
                <a:cs typeface="Calibri (MS)"/>
                <a:sym typeface="Calibri (MS)"/>
              </a:rPr>
              <a:t>backend/ — FastAPI gateway, orchestrator logic, worker scripts and API routing.</a:t>
            </a:r>
          </a:p>
          <a:p>
            <a:pPr algn="l">
              <a:lnSpc>
                <a:spcPts val="3480"/>
              </a:lnSpc>
            </a:pPr>
            <a:r>
              <a:rPr lang="en-US" sz="2900">
                <a:solidFill>
                  <a:srgbClr val="F4F6FC"/>
                </a:solidFill>
                <a:latin typeface="Calibri (MS)"/>
                <a:ea typeface="Calibri (MS)"/>
                <a:cs typeface="Calibri (MS)"/>
                <a:sym typeface="Calibri (MS)"/>
              </a:rPr>
              <a:t>frontend/ — Next.js user interface.</a:t>
            </a:r>
          </a:p>
          <a:p>
            <a:pPr algn="l">
              <a:lnSpc>
                <a:spcPts val="3480"/>
              </a:lnSpc>
            </a:pPr>
            <a:r>
              <a:rPr lang="en-US" sz="2900">
                <a:solidFill>
                  <a:srgbClr val="F4F6FC"/>
                </a:solidFill>
                <a:latin typeface="Calibri (MS)"/>
                <a:ea typeface="Calibri (MS)"/>
                <a:cs typeface="Calibri (MS)"/>
                <a:sym typeface="Calibri (MS)"/>
              </a:rPr>
              <a:t>docs/ — Project documentation.</a:t>
            </a:r>
          </a:p>
          <a:p>
            <a:pPr algn="l">
              <a:lnSpc>
                <a:spcPts val="3480"/>
              </a:lnSpc>
            </a:pPr>
            <a:r>
              <a:rPr lang="en-US" sz="2900">
                <a:solidFill>
                  <a:srgbClr val="F4F6FC"/>
                </a:solidFill>
                <a:latin typeface="Calibri (MS)"/>
                <a:ea typeface="Calibri (MS)"/>
                <a:cs typeface="Calibri (MS)"/>
                <a:sym typeface="Calibri (MS)"/>
              </a:rPr>
              <a:t>infra/ — Infrastructure and local setup scripts.</a:t>
            </a:r>
          </a:p>
          <a:p>
            <a:pPr algn="l">
              <a:lnSpc>
                <a:spcPts val="3480"/>
              </a:lnSpc>
            </a:pPr>
            <a:r>
              <a:rPr lang="en-US" sz="2900">
                <a:solidFill>
                  <a:srgbClr val="F4F6FC"/>
                </a:solidFill>
                <a:latin typeface="Calibri (MS)"/>
                <a:ea typeface="Calibri (MS)"/>
                <a:cs typeface="Calibri (MS)"/>
                <a:sym typeface="Calibri (MS)"/>
              </a:rPr>
              <a:t>forgeai.db — Local SQLite database.</a:t>
            </a:r>
          </a:p>
          <a:p>
            <a:pPr algn="l">
              <a:lnSpc>
                <a:spcPts val="3480"/>
              </a:lnSpc>
            </a:pPr>
            <a:r>
              <a:rPr lang="en-US" sz="2900">
                <a:solidFill>
                  <a:srgbClr val="F4F6FC"/>
                </a:solidFill>
                <a:latin typeface="Calibri (MS)"/>
                <a:ea typeface="Calibri (MS)"/>
                <a:cs typeface="Calibri (MS)"/>
                <a:sym typeface="Calibri (MS)"/>
              </a:rPr>
              <a:t>Primary repository: Akshay23-source/App-Builder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bg>
      <p:bgPr>
        <a:solidFill>
          <a:srgbClr val="070B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9814"/>
            <a:chOff x="0" y="0"/>
            <a:chExt cx="24402453" cy="14641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46431"/>
            </a:xfrm>
            <a:custGeom>
              <a:avLst/>
              <a:gdLst/>
              <a:ahLst/>
              <a:cxnLst/>
              <a:rect r="r" b="b" t="t" l="l"/>
              <a:pathLst>
                <a:path h="146431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46431"/>
                  </a:lnTo>
                  <a:lnTo>
                    <a:pt x="0" y="146431"/>
                  </a:lnTo>
                  <a:close/>
                </a:path>
              </a:pathLst>
            </a:custGeom>
            <a:solidFill>
              <a:srgbClr val="7E57FF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983675" y="440426"/>
            <a:ext cx="16289188" cy="723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200" b="true">
                <a:solidFill>
                  <a:srgbClr val="F4F6F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Impact &amp; Effectiveness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953719" y="2051856"/>
            <a:ext cx="5230454" cy="6328591"/>
            <a:chOff x="0" y="0"/>
            <a:chExt cx="6973938" cy="843812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973951" cy="8438135"/>
            </a:xfrm>
            <a:custGeom>
              <a:avLst/>
              <a:gdLst/>
              <a:ahLst/>
              <a:cxnLst/>
              <a:rect r="r" b="b" t="t" l="l"/>
              <a:pathLst>
                <a:path h="8438135" w="6973951">
                  <a:moveTo>
                    <a:pt x="0" y="1162304"/>
                  </a:moveTo>
                  <a:cubicBezTo>
                    <a:pt x="0" y="520446"/>
                    <a:pt x="520446" y="0"/>
                    <a:pt x="1162304" y="0"/>
                  </a:cubicBezTo>
                  <a:lnTo>
                    <a:pt x="5811647" y="0"/>
                  </a:lnTo>
                  <a:cubicBezTo>
                    <a:pt x="6453632" y="0"/>
                    <a:pt x="6973951" y="520446"/>
                    <a:pt x="6973951" y="1162304"/>
                  </a:cubicBezTo>
                  <a:lnTo>
                    <a:pt x="6973951" y="7275830"/>
                  </a:lnTo>
                  <a:cubicBezTo>
                    <a:pt x="6973951" y="7917815"/>
                    <a:pt x="6453505" y="8438135"/>
                    <a:pt x="5811647" y="8438135"/>
                  </a:cubicBezTo>
                  <a:lnTo>
                    <a:pt x="1162304" y="8438135"/>
                  </a:lnTo>
                  <a:cubicBezTo>
                    <a:pt x="520446" y="8438134"/>
                    <a:pt x="0" y="7917688"/>
                    <a:pt x="0" y="7275830"/>
                  </a:cubicBezTo>
                  <a:close/>
                </a:path>
              </a:pathLst>
            </a:custGeom>
            <a:solidFill>
              <a:srgbClr val="0E1627"/>
            </a:solidFill>
            <a:ln w="14299" cap="sq">
              <a:solidFill>
                <a:srgbClr val="23314C"/>
              </a:solidFill>
              <a:prstDash val="solid"/>
              <a:miter/>
            </a:ln>
          </p:spPr>
        </p:sp>
      </p:grpSp>
      <p:sp>
        <p:nvSpPr>
          <p:cNvPr name="TextBox 7" id="7"/>
          <p:cNvSpPr txBox="true"/>
          <p:nvPr/>
        </p:nvSpPr>
        <p:spPr>
          <a:xfrm rot="0">
            <a:off x="1326842" y="2285133"/>
            <a:ext cx="4484208" cy="3048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19"/>
              </a:lnSpc>
            </a:pPr>
            <a:r>
              <a:rPr lang="en-US" sz="3099" b="true">
                <a:solidFill>
                  <a:srgbClr val="F4F6F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Faster application creation</a:t>
            </a:r>
          </a:p>
          <a:p>
            <a:pPr algn="l">
              <a:lnSpc>
                <a:spcPts val="3359"/>
              </a:lnSpc>
            </a:pPr>
            <a:r>
              <a:rPr lang="en-US" sz="2799">
                <a:solidFill>
                  <a:srgbClr val="A5B0C6"/>
                </a:solidFill>
                <a:latin typeface="Calibri (MS)"/>
                <a:ea typeface="Calibri (MS)"/>
                <a:cs typeface="Calibri (MS)"/>
                <a:sym typeface="Calibri (MS)"/>
              </a:rPr>
              <a:t>Moves from a short natural-language idea toward a runnable web project through automated task decomposition and generation.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6513043" y="2051856"/>
            <a:ext cx="5230454" cy="6328591"/>
            <a:chOff x="0" y="0"/>
            <a:chExt cx="6973938" cy="843812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973951" cy="8438135"/>
            </a:xfrm>
            <a:custGeom>
              <a:avLst/>
              <a:gdLst/>
              <a:ahLst/>
              <a:cxnLst/>
              <a:rect r="r" b="b" t="t" l="l"/>
              <a:pathLst>
                <a:path h="8438135" w="6973951">
                  <a:moveTo>
                    <a:pt x="0" y="1162304"/>
                  </a:moveTo>
                  <a:cubicBezTo>
                    <a:pt x="0" y="520446"/>
                    <a:pt x="520446" y="0"/>
                    <a:pt x="1162304" y="0"/>
                  </a:cubicBezTo>
                  <a:lnTo>
                    <a:pt x="5811647" y="0"/>
                  </a:lnTo>
                  <a:cubicBezTo>
                    <a:pt x="6453632" y="0"/>
                    <a:pt x="6973951" y="520446"/>
                    <a:pt x="6973951" y="1162304"/>
                  </a:cubicBezTo>
                  <a:lnTo>
                    <a:pt x="6973951" y="7275830"/>
                  </a:lnTo>
                  <a:cubicBezTo>
                    <a:pt x="6973951" y="7917815"/>
                    <a:pt x="6453505" y="8438135"/>
                    <a:pt x="5811647" y="8438135"/>
                  </a:cubicBezTo>
                  <a:lnTo>
                    <a:pt x="1162304" y="8438135"/>
                  </a:lnTo>
                  <a:cubicBezTo>
                    <a:pt x="520446" y="8438134"/>
                    <a:pt x="0" y="7917688"/>
                    <a:pt x="0" y="7275830"/>
                  </a:cubicBezTo>
                  <a:close/>
                </a:path>
              </a:pathLst>
            </a:custGeom>
            <a:solidFill>
              <a:srgbClr val="0E1627"/>
            </a:solidFill>
            <a:ln w="14299" cap="sq">
              <a:solidFill>
                <a:srgbClr val="23314C"/>
              </a:solidFill>
              <a:prstDash val="solid"/>
              <a:miter/>
            </a:ln>
          </p:spPr>
        </p:sp>
      </p:grpSp>
      <p:sp>
        <p:nvSpPr>
          <p:cNvPr name="TextBox 10" id="10"/>
          <p:cNvSpPr txBox="true"/>
          <p:nvPr/>
        </p:nvSpPr>
        <p:spPr>
          <a:xfrm rot="0">
            <a:off x="6886165" y="2294658"/>
            <a:ext cx="4484208" cy="3124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 b="true">
                <a:solidFill>
                  <a:srgbClr val="F4F6F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Automated repair workflow</a:t>
            </a:r>
          </a:p>
          <a:p>
            <a:pPr algn="l">
              <a:lnSpc>
                <a:spcPts val="3359"/>
              </a:lnSpc>
            </a:pPr>
            <a:r>
              <a:rPr lang="en-US" sz="2799">
                <a:solidFill>
                  <a:srgbClr val="A5B0C6"/>
                </a:solidFill>
                <a:latin typeface="Calibri (MS)"/>
                <a:ea typeface="Calibri (MS)"/>
                <a:cs typeface="Calibri (MS)"/>
                <a:sym typeface="Calibri (MS)"/>
              </a:rPr>
              <a:t>The Debug &amp; Repair worker is designed to validate builds in a sandbox and retry repairs rather than stopping at raw code generation.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2072366" y="2051856"/>
            <a:ext cx="5230454" cy="6328591"/>
            <a:chOff x="0" y="0"/>
            <a:chExt cx="6973938" cy="843812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973951" cy="8438135"/>
            </a:xfrm>
            <a:custGeom>
              <a:avLst/>
              <a:gdLst/>
              <a:ahLst/>
              <a:cxnLst/>
              <a:rect r="r" b="b" t="t" l="l"/>
              <a:pathLst>
                <a:path h="8438135" w="6973951">
                  <a:moveTo>
                    <a:pt x="0" y="1162304"/>
                  </a:moveTo>
                  <a:cubicBezTo>
                    <a:pt x="0" y="520446"/>
                    <a:pt x="520446" y="0"/>
                    <a:pt x="1162304" y="0"/>
                  </a:cubicBezTo>
                  <a:lnTo>
                    <a:pt x="5811647" y="0"/>
                  </a:lnTo>
                  <a:cubicBezTo>
                    <a:pt x="6453632" y="0"/>
                    <a:pt x="6973951" y="520446"/>
                    <a:pt x="6973951" y="1162304"/>
                  </a:cubicBezTo>
                  <a:lnTo>
                    <a:pt x="6973951" y="7275830"/>
                  </a:lnTo>
                  <a:cubicBezTo>
                    <a:pt x="6973951" y="7917815"/>
                    <a:pt x="6453505" y="8438135"/>
                    <a:pt x="5811647" y="8438135"/>
                  </a:cubicBezTo>
                  <a:lnTo>
                    <a:pt x="1162304" y="8438135"/>
                  </a:lnTo>
                  <a:cubicBezTo>
                    <a:pt x="520446" y="8438134"/>
                    <a:pt x="0" y="7917688"/>
                    <a:pt x="0" y="7275830"/>
                  </a:cubicBezTo>
                  <a:close/>
                </a:path>
              </a:pathLst>
            </a:custGeom>
            <a:solidFill>
              <a:srgbClr val="0E1627"/>
            </a:solidFill>
            <a:ln w="14299" cap="sq">
              <a:solidFill>
                <a:srgbClr val="23314C"/>
              </a:solidFill>
              <a:prstDash val="solid"/>
              <a:miter/>
            </a:ln>
          </p:spPr>
        </p:sp>
      </p:grpSp>
      <p:sp>
        <p:nvSpPr>
          <p:cNvPr name="TextBox 13" id="13"/>
          <p:cNvSpPr txBox="true"/>
          <p:nvPr/>
        </p:nvSpPr>
        <p:spPr>
          <a:xfrm rot="0">
            <a:off x="12445489" y="2294658"/>
            <a:ext cx="4484208" cy="2638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 b="true">
                <a:solidFill>
                  <a:srgbClr val="F4F6F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Local-first architecture</a:t>
            </a:r>
          </a:p>
          <a:p>
            <a:pPr algn="l">
              <a:lnSpc>
                <a:spcPts val="3359"/>
              </a:lnSpc>
            </a:pPr>
            <a:r>
              <a:rPr lang="en-US" sz="2799">
                <a:solidFill>
                  <a:srgbClr val="A5B0C6"/>
                </a:solidFill>
                <a:latin typeface="Calibri (MS)"/>
                <a:ea typeface="Calibri (MS)"/>
                <a:cs typeface="Calibri (MS)"/>
                <a:sym typeface="Calibri (MS)"/>
              </a:rPr>
              <a:t>Frontend, API gateway, orchestration and SQLite storage can run locally, keeping the development workflow self-contained.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bg>
      <p:bgPr>
        <a:solidFill>
          <a:srgbClr val="070B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9814"/>
            <a:chOff x="0" y="0"/>
            <a:chExt cx="24402453" cy="14641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46431"/>
            </a:xfrm>
            <a:custGeom>
              <a:avLst/>
              <a:gdLst/>
              <a:ahLst/>
              <a:cxnLst/>
              <a:rect r="r" b="b" t="t" l="l"/>
              <a:pathLst>
                <a:path h="146431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46431"/>
                  </a:lnTo>
                  <a:lnTo>
                    <a:pt x="0" y="146431"/>
                  </a:lnTo>
                  <a:close/>
                </a:path>
              </a:pathLst>
            </a:custGeom>
            <a:solidFill>
              <a:srgbClr val="7E57FF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983675" y="440426"/>
            <a:ext cx="16289188" cy="723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200" b="true">
                <a:solidFill>
                  <a:srgbClr val="F4F6F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Conclusion &amp; Future Scope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189577" y="2184844"/>
            <a:ext cx="16014659" cy="3943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>
                <a:solidFill>
                  <a:srgbClr val="F4F6FC"/>
                </a:solidFill>
                <a:latin typeface="Calibri (MS)"/>
                <a:ea typeface="Calibri (MS)"/>
                <a:cs typeface="Calibri (MS)"/>
                <a:sym typeface="Calibri (MS)"/>
              </a:rPr>
              <a:t>ForgeAI combines a Next.js frontend, FastAPI gateway and asynchronous multi-agent DAG into a local application-building workflow.</a:t>
            </a:r>
          </a:p>
          <a:p>
            <a:pPr algn="l">
              <a:lnSpc>
                <a:spcPts val="3840"/>
              </a:lnSpc>
            </a:pPr>
            <a:r>
              <a:rPr lang="en-US" sz="3200">
                <a:solidFill>
                  <a:srgbClr val="F4F6FC"/>
                </a:solidFill>
                <a:latin typeface="Calibri (MS)"/>
                <a:ea typeface="Calibri (MS)"/>
                <a:cs typeface="Calibri (MS)"/>
                <a:sym typeface="Calibri (MS)"/>
              </a:rPr>
              <a:t>The supplied application screenshots demonstrate the frontend, authentication interface and multi-agent build-stream experience.</a:t>
            </a:r>
          </a:p>
          <a:p>
            <a:pPr algn="l">
              <a:lnSpc>
                <a:spcPts val="3840"/>
              </a:lnSpc>
            </a:pPr>
            <a:r>
              <a:rPr lang="en-US" sz="3200">
                <a:solidFill>
                  <a:srgbClr val="F4F6FC"/>
                </a:solidFill>
                <a:latin typeface="Calibri (MS)"/>
                <a:ea typeface="Calibri (MS)"/>
                <a:cs typeface="Calibri (MS)"/>
                <a:sym typeface="Calibri (MS)"/>
              </a:rPr>
              <a:t>Future work can expand deployment automation, observability, worker capabilities, provider integrations and production validation.</a:t>
            </a:r>
          </a:p>
          <a:p>
            <a:pPr algn="l">
              <a:lnSpc>
                <a:spcPts val="3840"/>
              </a:lnSpc>
            </a:pPr>
            <a:r>
              <a:rPr lang="en-US" sz="3200">
                <a:solidFill>
                  <a:srgbClr val="F4F6FC"/>
                </a:solidFill>
                <a:latin typeface="Calibri (MS)"/>
                <a:ea typeface="Calibri (MS)"/>
                <a:cs typeface="Calibri (MS)"/>
                <a:sym typeface="Calibri (MS)"/>
              </a:rPr>
              <a:t>Additional measured E2E test output and a completed generated-site preview can be added as quantitative/final deployment evidence when available.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DAHQXRd68SI</dc:identifier>
  <dcterms:modified xsi:type="dcterms:W3CDTF">2011-08-01T06:04:30Z</dcterms:modified>
  <cp:revision>1</cp:revision>
  <dc:title>ForgeAI_Final_Project_Presentation_Updated-1.pptx</dc:title>
</cp:coreProperties>
</file>